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  <p:sldMasterId id="214748368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Young Serif"/>
      <p:regular r:id="rId18"/>
    </p:embeddedFont>
    <p:embeddedFont>
      <p:font typeface="Rubik"/>
      <p:regular r:id="rId19"/>
      <p:bold r:id="rId20"/>
      <p:italic r:id="rId21"/>
      <p:boldItalic r:id="rId22"/>
    </p:embeddedFont>
    <p:embeddedFont>
      <p:font typeface="Rubik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ubik-bold.fntdata"/><Relationship Id="rId22" Type="http://schemas.openxmlformats.org/officeDocument/2006/relationships/font" Target="fonts/Rubik-boldItalic.fntdata"/><Relationship Id="rId21" Type="http://schemas.openxmlformats.org/officeDocument/2006/relationships/font" Target="fonts/Rubik-italic.fntdata"/><Relationship Id="rId24" Type="http://schemas.openxmlformats.org/officeDocument/2006/relationships/font" Target="fonts/RubikSemiBold-bold.fntdata"/><Relationship Id="rId23" Type="http://schemas.openxmlformats.org/officeDocument/2006/relationships/font" Target="fonts/Rubik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ubikSemiBold-boldItalic.fntdata"/><Relationship Id="rId25" Type="http://schemas.openxmlformats.org/officeDocument/2006/relationships/font" Target="fonts/Rubik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ubik-regular.fntdata"/><Relationship Id="rId18" Type="http://schemas.openxmlformats.org/officeDocument/2006/relationships/font" Target="fonts/YoungSerif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c6ea13fc2_0_2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7c6ea13fc2_0_2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c6ea13fc2_0_2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7c6ea13fc2_0_2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7c6ea13fc2_0_2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7c6ea13fc2_0_2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c6ea13fc2_0_2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7c6ea13fc2_0_2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c6ea13fc2_0_2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7c6ea13fc2_0_2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c6ea13fc2_0_2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7c6ea13fc2_0_2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c6ea13fc2_0_2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7c6ea13fc2_0_2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c6ea13fc2_0_2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7c6ea13fc2_0_2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c6ea13fc2_0_2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7c6ea13fc2_0_2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e4426829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7e4426829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7c6ea13fc2_0_2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7c6ea13fc2_0_2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4" name="Google Shape;84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" name="Google Shape;85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1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06" name="Google Shape;106;p2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1" name="Google Shape;121;p2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1" name="Google Shape;131;p2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2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0" name="Google Shape;1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2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3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3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9" name="Google Shape;149;p3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53" name="Google Shape;153;p3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4" name="Google Shape;154;p3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" name="Google Shape;155;p3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3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3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3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68" name="Google Shape;168;p3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x">
  <p:cSld name="TITLE_AND_BODY"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3"/>
          <p:cNvSpPr/>
          <p:nvPr>
            <p:ph idx="2" type="pic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3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5" name="Google Shape;175;p3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two columns" type="twoColTx">
  <p:cSld name="TITLE_AND_TWO_COLUMNS"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4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9" name="Google Shape;179;p3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0" name="Google Shape;180;p34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227150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3" name="Google Shape;183;p34"/>
          <p:cNvSpPr/>
          <p:nvPr/>
        </p:nvSpPr>
        <p:spPr>
          <a:xfrm>
            <a:off x="4685575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84" name="Google Shape;184;p34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5" name="Google Shape;185;p34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>
  <p:cSld name="CUSTOM"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8" name="Google Shape;188;p3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9" name="Google Shape;189;p35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0" name="Google Shape;190;p35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1" name="Google Shape;191;p35"/>
          <p:cNvSpPr/>
          <p:nvPr/>
        </p:nvSpPr>
        <p:spPr>
          <a:xfrm>
            <a:off x="228450" y="1762300"/>
            <a:ext cx="86868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2" name="Google Shape;192;p35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one column and image">
  <p:cSld name="CUSTOM_1"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6" name="Google Shape;196;p3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7" name="Google Shape;197;p36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8" name="Google Shape;198;p36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9" name="Google Shape;199;p36"/>
          <p:cNvSpPr/>
          <p:nvPr>
            <p:ph idx="2" type="pic"/>
          </p:nvPr>
        </p:nvSpPr>
        <p:spPr>
          <a:xfrm>
            <a:off x="4685900" y="1762300"/>
            <a:ext cx="4229400" cy="31524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6"/>
          <p:cNvSpPr/>
          <p:nvPr/>
        </p:nvSpPr>
        <p:spPr>
          <a:xfrm>
            <a:off x="228450" y="1762300"/>
            <a:ext cx="42294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1" name="Google Shape;201;p36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2" name="Google Shape;202;p36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1">
  <p:cSld name="CUSTOM_2"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5" name="Google Shape;205;p3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37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7" name="Google Shape;207;p37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8" name="Google Shape;208;p37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7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0" name="Google Shape;210;p37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1" name="Google Shape;211;p37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2" name="Google Shape;212;p37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3" name="Google Shape;213;p37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2">
  <p:cSld name="CUSTOM_2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6" name="Google Shape;216;p3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7" name="Google Shape;217;p38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8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9" name="Google Shape;219;p38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20" name="Google Shape;220;p38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21" name="Google Shape;221;p38"/>
          <p:cNvSpPr txBox="1"/>
          <p:nvPr>
            <p:ph idx="1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2" name="Google Shape;222;p38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3" name="Google Shape;223;p38"/>
          <p:cNvSpPr txBox="1"/>
          <p:nvPr>
            <p:ph idx="3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4" name="Google Shape;224;p3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3">
  <p:cSld name="CUSTOM_2_1_1"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7" name="Google Shape;227;p3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8" name="Google Shape;228;p39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39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0" name="Google Shape;230;p39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1" name="Google Shape;231;p39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2" name="Google Shape;232;p39"/>
          <p:cNvSpPr txBox="1"/>
          <p:nvPr>
            <p:ph idx="1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3" name="Google Shape;233;p39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34" name="Google Shape;234;p39"/>
          <p:cNvSpPr txBox="1"/>
          <p:nvPr>
            <p:ph idx="3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5" name="Google Shape;235;p3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4">
  <p:cSld name="CUSTOM_2_1_1_1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38" name="Google Shape;238;p40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9" name="Google Shape;239;p40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40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40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42" name="Google Shape;242;p40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3" name="Google Shape;243;p40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4" name="Google Shape;244;p40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5" name="Google Shape;245;p40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46" name="Google Shape;246;p40"/>
          <p:cNvSpPr txBox="1"/>
          <p:nvPr>
            <p:ph idx="4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7" name="Google Shape;247;p40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8" name="Google Shape;248;p40"/>
          <p:cNvSpPr txBox="1"/>
          <p:nvPr>
            <p:ph idx="5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9" name="Google Shape;249;p40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50" name="Google Shape;250;p40"/>
          <p:cNvSpPr txBox="1"/>
          <p:nvPr>
            <p:ph idx="6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1" name="Google Shape;251;p40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52" name="Google Shape;252;p40"/>
          <p:cNvSpPr txBox="1"/>
          <p:nvPr>
            <p:ph idx="7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CUSTOM_3">
    <p:bg>
      <p:bgPr>
        <a:solidFill>
          <a:schemeClr val="dk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55" name="Google Shape;255;p41"/>
          <p:cNvSpPr txBox="1"/>
          <p:nvPr>
            <p:ph type="title"/>
          </p:nvPr>
        </p:nvSpPr>
        <p:spPr>
          <a:xfrm>
            <a:off x="1248900" y="17773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814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432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432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432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432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432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432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432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432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819075" y="99825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52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Data Science Club </a:t>
            </a:r>
            <a:endParaRPr/>
          </a:p>
        </p:txBody>
      </p:sp>
      <p:sp>
        <p:nvSpPr>
          <p:cNvPr id="263" name="Google Shape;263;p43"/>
          <p:cNvSpPr txBox="1"/>
          <p:nvPr>
            <p:ph idx="1" type="subTitle"/>
          </p:nvPr>
        </p:nvSpPr>
        <p:spPr>
          <a:xfrm>
            <a:off x="2054650" y="1416425"/>
            <a:ext cx="4404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(2025-2026)</a:t>
            </a:r>
            <a:endParaRPr/>
          </a:p>
        </p:txBody>
      </p:sp>
      <p:pic>
        <p:nvPicPr>
          <p:cNvPr id="264" name="Google Shape;264;p43"/>
          <p:cNvPicPr preferRelativeResize="0"/>
          <p:nvPr/>
        </p:nvPicPr>
        <p:blipFill rotWithShape="1">
          <a:blip r:embed="rId3">
            <a:alphaModFix/>
          </a:blip>
          <a:srcRect b="-7538" l="-2957" r="-19218" t="-14637"/>
          <a:stretch/>
        </p:blipFill>
        <p:spPr>
          <a:xfrm>
            <a:off x="1521125" y="1502389"/>
            <a:ext cx="6836449" cy="33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Data Science Club</a:t>
            </a:r>
            <a:endParaRPr/>
          </a:p>
        </p:txBody>
      </p:sp>
      <p:pic>
        <p:nvPicPr>
          <p:cNvPr id="270" name="Google Shape;27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975" y="3000650"/>
            <a:ext cx="2704254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5900" y="3075600"/>
            <a:ext cx="1514475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4"/>
          <p:cNvSpPr txBox="1"/>
          <p:nvPr/>
        </p:nvSpPr>
        <p:spPr>
          <a:xfrm>
            <a:off x="635500" y="1269175"/>
            <a:ext cx="65730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What do you need to bring?</a:t>
            </a:r>
            <a:endParaRPr sz="2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Laptop - To work on </a:t>
            </a:r>
            <a:r>
              <a:rPr lang="en" sz="17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exercises</a:t>
            </a:r>
            <a:r>
              <a:rPr lang="en" sz="17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and projects</a:t>
            </a:r>
            <a:endParaRPr sz="17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Notebook - To write down notes</a:t>
            </a:r>
            <a:endParaRPr sz="17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73" name="Google Shape;273;p44"/>
          <p:cNvSpPr txBox="1"/>
          <p:nvPr/>
        </p:nvSpPr>
        <p:spPr>
          <a:xfrm>
            <a:off x="3615250" y="1556900"/>
            <a:ext cx="5539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79" name="Google Shape;279;p45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We’ll Be Covering This Year</a:t>
            </a:r>
            <a:endParaRPr/>
          </a:p>
        </p:txBody>
      </p:sp>
      <p:sp>
        <p:nvSpPr>
          <p:cNvPr id="280" name="Google Shape;280;p45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Python, Excel, Jupyter Notebook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/>
              <a:t>visualization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Statistical models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Machine learning models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Neural Networks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5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Research topics</a:t>
            </a:r>
            <a:r>
              <a:rPr lang="en"/>
              <a:t>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Kaggle competitions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Basic Tools</a:t>
            </a:r>
            <a:endParaRPr/>
          </a:p>
        </p:txBody>
      </p:sp>
      <p:sp>
        <p:nvSpPr>
          <p:cNvPr id="287" name="Google Shape;287;p46"/>
          <p:cNvSpPr/>
          <p:nvPr/>
        </p:nvSpPr>
        <p:spPr>
          <a:xfrm>
            <a:off x="191025" y="1241700"/>
            <a:ext cx="8739600" cy="3581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88" name="Google Shape;288;p46"/>
          <p:cNvSpPr txBox="1"/>
          <p:nvPr/>
        </p:nvSpPr>
        <p:spPr>
          <a:xfrm>
            <a:off x="635500" y="1542575"/>
            <a:ext cx="5874300" cy="24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Excel/Google Sheet</a:t>
            </a:r>
            <a:endParaRPr sz="2000">
              <a:solidFill>
                <a:srgbClr val="222222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Python programming</a:t>
            </a:r>
            <a:endParaRPr sz="2000">
              <a:solidFill>
                <a:srgbClr val="222222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Pandas for data manipulation</a:t>
            </a:r>
            <a:endParaRPr sz="2000">
              <a:solidFill>
                <a:srgbClr val="222222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Jupyter Notebook/ Google Colab for interactive coding</a:t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22222"/>
              </a:solidFill>
            </a:endParaRPr>
          </a:p>
        </p:txBody>
      </p:sp>
      <p:pic>
        <p:nvPicPr>
          <p:cNvPr id="289" name="Google Shape;28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2925" y="3629746"/>
            <a:ext cx="1924050" cy="893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9149" y="1376750"/>
            <a:ext cx="1201478" cy="107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0275" y="1410825"/>
            <a:ext cx="19240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0325" y="3643500"/>
            <a:ext cx="886586" cy="86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86895" y="2308289"/>
            <a:ext cx="1347425" cy="1233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 (EDA)</a:t>
            </a:r>
            <a:endParaRPr/>
          </a:p>
        </p:txBody>
      </p:sp>
      <p:sp>
        <p:nvSpPr>
          <p:cNvPr id="299" name="Google Shape;299;p47"/>
          <p:cNvSpPr/>
          <p:nvPr/>
        </p:nvSpPr>
        <p:spPr>
          <a:xfrm>
            <a:off x="191025" y="1241700"/>
            <a:ext cx="8739600" cy="3581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300" name="Google Shape;30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202" y="1884038"/>
            <a:ext cx="4142449" cy="2251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7"/>
          <p:cNvSpPr txBox="1"/>
          <p:nvPr/>
        </p:nvSpPr>
        <p:spPr>
          <a:xfrm>
            <a:off x="205352" y="1685850"/>
            <a:ext cx="4928700" cy="24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Understanding datasets</a:t>
            </a:r>
            <a:endParaRPr sz="2000">
              <a:solidFill>
                <a:srgbClr val="222222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Data cleaning and preprocessing</a:t>
            </a:r>
            <a:endParaRPr sz="2000">
              <a:solidFill>
                <a:srgbClr val="222222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Visualization techniques</a:t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Models</a:t>
            </a:r>
            <a:endParaRPr/>
          </a:p>
        </p:txBody>
      </p:sp>
      <p:sp>
        <p:nvSpPr>
          <p:cNvPr id="307" name="Google Shape;307;p48"/>
          <p:cNvSpPr/>
          <p:nvPr/>
        </p:nvSpPr>
        <p:spPr>
          <a:xfrm>
            <a:off x="191025" y="1241700"/>
            <a:ext cx="8739600" cy="3581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08" name="Google Shape;308;p48"/>
          <p:cNvSpPr txBox="1"/>
          <p:nvPr/>
        </p:nvSpPr>
        <p:spPr>
          <a:xfrm>
            <a:off x="635500" y="1542575"/>
            <a:ext cx="5874300" cy="24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Linear regression</a:t>
            </a:r>
            <a:endParaRPr sz="2000">
              <a:solidFill>
                <a:srgbClr val="222222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Logistic regression</a:t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22222"/>
              </a:solidFill>
            </a:endParaRPr>
          </a:p>
        </p:txBody>
      </p:sp>
      <p:pic>
        <p:nvPicPr>
          <p:cNvPr id="309" name="Google Shape;30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275" y="2397763"/>
            <a:ext cx="306705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Models</a:t>
            </a:r>
            <a:endParaRPr/>
          </a:p>
        </p:txBody>
      </p:sp>
      <p:sp>
        <p:nvSpPr>
          <p:cNvPr id="315" name="Google Shape;315;p49"/>
          <p:cNvSpPr/>
          <p:nvPr/>
        </p:nvSpPr>
        <p:spPr>
          <a:xfrm>
            <a:off x="191025" y="1241700"/>
            <a:ext cx="8739600" cy="3581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16" name="Google Shape;316;p49"/>
          <p:cNvSpPr txBox="1"/>
          <p:nvPr/>
        </p:nvSpPr>
        <p:spPr>
          <a:xfrm>
            <a:off x="635500" y="1542575"/>
            <a:ext cx="5874300" cy="24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Decision Tree</a:t>
            </a:r>
            <a:endParaRPr sz="2000">
              <a:solidFill>
                <a:srgbClr val="22222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Ensemble Model</a:t>
            </a:r>
            <a:endParaRPr sz="2000">
              <a:solidFill>
                <a:srgbClr val="222222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Random Forest</a:t>
            </a:r>
            <a:endParaRPr sz="2000">
              <a:solidFill>
                <a:srgbClr val="222222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Gradient Boosting </a:t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22222"/>
              </a:solidFill>
            </a:endParaRPr>
          </a:p>
        </p:txBody>
      </p:sp>
      <p:pic>
        <p:nvPicPr>
          <p:cNvPr id="317" name="Google Shape;31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600" y="1423988"/>
            <a:ext cx="182880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8625" y="2745250"/>
            <a:ext cx="2539950" cy="207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0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</a:t>
            </a:r>
            <a:endParaRPr/>
          </a:p>
        </p:txBody>
      </p:sp>
      <p:sp>
        <p:nvSpPr>
          <p:cNvPr id="324" name="Google Shape;324;p50"/>
          <p:cNvSpPr/>
          <p:nvPr/>
        </p:nvSpPr>
        <p:spPr>
          <a:xfrm>
            <a:off x="191025" y="1241700"/>
            <a:ext cx="8739600" cy="3581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25" name="Google Shape;325;p50"/>
          <p:cNvSpPr txBox="1"/>
          <p:nvPr/>
        </p:nvSpPr>
        <p:spPr>
          <a:xfrm>
            <a:off x="635500" y="1542575"/>
            <a:ext cx="5874300" cy="24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Deep Neural Network</a:t>
            </a:r>
            <a:endParaRPr sz="2000">
              <a:solidFill>
                <a:srgbClr val="222222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Large Language Model (LLM)</a:t>
            </a:r>
            <a:endParaRPr sz="2000">
              <a:solidFill>
                <a:srgbClr val="22222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22222"/>
              </a:solidFill>
            </a:endParaRPr>
          </a:p>
        </p:txBody>
      </p:sp>
      <p:pic>
        <p:nvPicPr>
          <p:cNvPr id="326" name="Google Shape;32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350" y="1628525"/>
            <a:ext cx="3837348" cy="260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1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Projects</a:t>
            </a:r>
            <a:endParaRPr/>
          </a:p>
        </p:txBody>
      </p:sp>
      <p:sp>
        <p:nvSpPr>
          <p:cNvPr id="332" name="Google Shape;332;p51"/>
          <p:cNvSpPr/>
          <p:nvPr/>
        </p:nvSpPr>
        <p:spPr>
          <a:xfrm>
            <a:off x="191025" y="1241700"/>
            <a:ext cx="8739600" cy="35817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33" name="Google Shape;333;p51"/>
          <p:cNvSpPr txBox="1"/>
          <p:nvPr/>
        </p:nvSpPr>
        <p:spPr>
          <a:xfrm>
            <a:off x="635500" y="1542575"/>
            <a:ext cx="5874300" cy="24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Projects </a:t>
            </a:r>
            <a:endParaRPr sz="2000">
              <a:solidFill>
                <a:srgbClr val="222222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Topic selection based on member’s experience and interest</a:t>
            </a:r>
            <a:endParaRPr sz="2000">
              <a:solidFill>
                <a:srgbClr val="222222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Char char="-"/>
            </a:pPr>
            <a:r>
              <a:rPr lang="en" sz="2000">
                <a:solidFill>
                  <a:srgbClr val="222222"/>
                </a:solidFill>
              </a:rPr>
              <a:t>Kaggle competitions</a:t>
            </a:r>
            <a:endParaRPr sz="2000">
              <a:solidFill>
                <a:srgbClr val="22222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22222"/>
              </a:solidFill>
            </a:endParaRPr>
          </a:p>
        </p:txBody>
      </p:sp>
      <p:pic>
        <p:nvPicPr>
          <p:cNvPr id="334" name="Google Shape;33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0848" y="2713924"/>
            <a:ext cx="2792425" cy="20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with Google Spreadssheets</a:t>
            </a:r>
            <a:endParaRPr/>
          </a:p>
        </p:txBody>
      </p:sp>
      <p:sp>
        <p:nvSpPr>
          <p:cNvPr id="340" name="Google Shape;340;p52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</p:spPr>
      </p:sp>
      <p:sp>
        <p:nvSpPr>
          <p:cNvPr id="341" name="Google Shape;341;p52"/>
          <p:cNvSpPr txBox="1"/>
          <p:nvPr>
            <p:ph idx="1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342" name="Google Shape;342;p52"/>
          <p:cNvSpPr txBox="1"/>
          <p:nvPr/>
        </p:nvSpPr>
        <p:spPr>
          <a:xfrm>
            <a:off x="3352650" y="2963275"/>
            <a:ext cx="3055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https://tinyurl.com/msppnape</a:t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https://tinyurl.com/3b6yjnzy</a:t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3"/>
          <p:cNvSpPr txBox="1"/>
          <p:nvPr>
            <p:ph type="title"/>
          </p:nvPr>
        </p:nvSpPr>
        <p:spPr>
          <a:xfrm>
            <a:off x="814200" y="1507525"/>
            <a:ext cx="6646200" cy="90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yllabus / Course Overview #1">
  <a:themeElements>
    <a:clrScheme name="Simple Light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